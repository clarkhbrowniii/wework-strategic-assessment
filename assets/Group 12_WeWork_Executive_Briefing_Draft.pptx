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16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ero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530352"/>
            <a:ext cx="7360920" cy="4069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60120" y="4800600"/>
            <a:ext cx="10287000" cy="2286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5001768"/>
            <a:ext cx="10424160" cy="47548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2700" b="1">
                <a:solidFill>
                  <a:srgbClr val="EE7058"/>
                </a:solidFill>
                <a:latin typeface="Aptos"/>
              </a:defRPr>
            </a:pPr>
            <a:r>
              <a:t>WEWORK  |  STRATEGIC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550408"/>
            <a:ext cx="10058400" cy="39319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800" b="0">
                <a:solidFill>
                  <a:srgbClr val="171717"/>
                </a:solidFill>
                <a:latin typeface="Aptos"/>
              </a:defRPr>
            </a:pPr>
            <a:r>
              <a:t>Technology-enabled workspace expansion and strategic retreat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6199632"/>
            <a:ext cx="10058400" cy="23774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100" b="1">
                <a:solidFill>
                  <a:srgbClr val="5B5B5B"/>
                </a:solidFill>
                <a:latin typeface="Aptos"/>
              </a:defRPr>
            </a:pPr>
            <a:r>
              <a:t>USF  ·  ISM 6930     |     OCTOBER 12,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43891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2700" b="1">
                <a:solidFill>
                  <a:srgbClr val="171717"/>
                </a:solidFill>
                <a:latin typeface="Aptos"/>
              </a:defRPr>
            </a:pPr>
            <a:r>
              <a:t>THE 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804672"/>
            <a:ext cx="9144000" cy="2743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400" b="0">
                <a:solidFill>
                  <a:srgbClr val="5B5B5B"/>
                </a:solidFill>
                <a:latin typeface="Aptos"/>
              </a:defRPr>
            </a:pPr>
            <a:r>
              <a:t>Eight frameworks. Three connected findings.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88720"/>
            <a:ext cx="11055096" cy="676656"/>
          </a:xfrm>
          <a:prstGeom prst="roundRect">
            <a:avLst/>
          </a:prstGeom>
          <a:solidFill>
            <a:srgbClr val="FA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353312"/>
            <a:ext cx="1060704" cy="249299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1">
                <a:solidFill>
                  <a:srgbClr val="EE7058"/>
                </a:solidFill>
                <a:latin typeface="Aptos"/>
              </a:defRPr>
            </a:pPr>
            <a:r>
              <a:rPr dirty="0"/>
              <a:t>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83664" y="1280160"/>
            <a:ext cx="9354312" cy="45720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500" b="1">
                <a:solidFill>
                  <a:srgbClr val="171717"/>
                </a:solidFill>
                <a:latin typeface="Aptos"/>
              </a:defRPr>
            </a:pPr>
            <a:r>
              <a:rPr dirty="0"/>
              <a:t>WeWork digitalized workspace access and operations, but did not transform the economics of the underlying real estate business.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93976"/>
            <a:ext cx="2651760" cy="1188720"/>
          </a:xfrm>
          <a:prstGeom prst="roundRect">
            <a:avLst/>
          </a:prstGeom>
          <a:solidFill>
            <a:srgbClr val="FA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2093976"/>
            <a:ext cx="68580" cy="1188720"/>
          </a:xfrm>
          <a:prstGeom prst="rect">
            <a:avLst/>
          </a:prstGeom>
          <a:solidFill>
            <a:srgbClr val="EE7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" y="2212848"/>
            <a:ext cx="384048" cy="24688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1">
                <a:solidFill>
                  <a:srgbClr val="EE7058"/>
                </a:solidFill>
                <a:latin typeface="Aptos"/>
              </a:defRPr>
            </a:pPr>
            <a:r>
              <a:rPr dirty="0"/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2203704"/>
            <a:ext cx="1947672" cy="26517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300" b="1">
                <a:solidFill>
                  <a:srgbClr val="171717"/>
                </a:solidFill>
                <a:latin typeface="Aptos"/>
              </a:defRPr>
            </a:pPr>
            <a:r>
              <a:rPr dirty="0"/>
              <a:t>DT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578608"/>
            <a:ext cx="2313432" cy="55707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0">
                <a:solidFill>
                  <a:srgbClr val="5B5B5B"/>
                </a:solidFill>
                <a:latin typeface="Aptos"/>
              </a:defRPr>
            </a:pPr>
            <a:r>
              <a:rPr sz="1600" dirty="0"/>
              <a:t>Digitalization, not transformation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8708" y="2093976"/>
            <a:ext cx="2651760" cy="1188720"/>
          </a:xfrm>
          <a:prstGeom prst="roundRect">
            <a:avLst/>
          </a:prstGeom>
          <a:solidFill>
            <a:srgbClr val="FA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78708" y="2093976"/>
            <a:ext cx="68580" cy="1188720"/>
          </a:xfrm>
          <a:prstGeom prst="rect">
            <a:avLst/>
          </a:prstGeom>
          <a:solidFill>
            <a:srgbClr val="EE7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52444" y="2212848"/>
            <a:ext cx="384048" cy="24688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1">
                <a:solidFill>
                  <a:srgbClr val="EE705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3924" y="2203704"/>
            <a:ext cx="1947672" cy="26517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300" b="1">
                <a:solidFill>
                  <a:srgbClr val="171717"/>
                </a:solidFill>
                <a:latin typeface="Aptos"/>
              </a:defRPr>
            </a:pPr>
            <a:r>
              <a:t>Platform 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1588" y="2578608"/>
            <a:ext cx="2313432" cy="31085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0">
                <a:solidFill>
                  <a:srgbClr val="5B5B5B"/>
                </a:solidFill>
                <a:latin typeface="Aptos"/>
              </a:defRPr>
            </a:pPr>
            <a:r>
              <a:rPr sz="1600" dirty="0"/>
              <a:t>Pipeline, not platform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093976"/>
            <a:ext cx="2651760" cy="1188720"/>
          </a:xfrm>
          <a:prstGeom prst="roundRect">
            <a:avLst/>
          </a:prstGeom>
          <a:solidFill>
            <a:srgbClr val="FA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0488" y="2093976"/>
            <a:ext cx="68580" cy="1188720"/>
          </a:xfrm>
          <a:prstGeom prst="rect">
            <a:avLst/>
          </a:prstGeom>
          <a:solidFill>
            <a:srgbClr val="EE7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64224" y="2212848"/>
            <a:ext cx="384048" cy="24688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1">
                <a:solidFill>
                  <a:srgbClr val="EE705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5704" y="2203704"/>
            <a:ext cx="1947672" cy="26517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300" b="1">
                <a:solidFill>
                  <a:srgbClr val="171717"/>
                </a:solidFill>
                <a:latin typeface="Aptos"/>
              </a:defRPr>
            </a:pPr>
            <a:r>
              <a:t>Revenue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2578608"/>
            <a:ext cx="2313432" cy="55707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0">
                <a:solidFill>
                  <a:srgbClr val="5B5B5B"/>
                </a:solidFill>
                <a:latin typeface="Aptos"/>
              </a:defRPr>
            </a:pPr>
            <a:r>
              <a:rPr sz="1600" dirty="0"/>
              <a:t>Recurring revenue; fixed lease exposure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2268" y="2093976"/>
            <a:ext cx="2651760" cy="1188720"/>
          </a:xfrm>
          <a:prstGeom prst="roundRect">
            <a:avLst/>
          </a:prstGeom>
          <a:solidFill>
            <a:srgbClr val="FA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02268" y="2093976"/>
            <a:ext cx="68580" cy="1188720"/>
          </a:xfrm>
          <a:prstGeom prst="rect">
            <a:avLst/>
          </a:prstGeom>
          <a:solidFill>
            <a:srgbClr val="EE7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76004" y="2212848"/>
            <a:ext cx="384048" cy="24688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1">
                <a:solidFill>
                  <a:srgbClr val="EE705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7484" y="2203704"/>
            <a:ext cx="1947672" cy="26517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300" b="1">
                <a:solidFill>
                  <a:srgbClr val="171717"/>
                </a:solidFill>
                <a:latin typeface="Aptos"/>
              </a:defRPr>
            </a:pPr>
            <a:r>
              <a:t>AI Moats &amp; 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5148" y="2578608"/>
            <a:ext cx="2313432" cy="55707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0">
                <a:solidFill>
                  <a:srgbClr val="5B5B5B"/>
                </a:solidFill>
                <a:latin typeface="Aptos"/>
              </a:defRPr>
            </a:pPr>
            <a:r>
              <a:rPr sz="1600" dirty="0"/>
              <a:t>Capabilities, no proven durable moat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438144"/>
            <a:ext cx="2651760" cy="1188720"/>
          </a:xfrm>
          <a:prstGeom prst="roundRect">
            <a:avLst/>
          </a:prstGeom>
          <a:solidFill>
            <a:srgbClr val="FA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66928" y="3438144"/>
            <a:ext cx="68580" cy="1188720"/>
          </a:xfrm>
          <a:prstGeom prst="rect">
            <a:avLst/>
          </a:prstGeom>
          <a:solidFill>
            <a:srgbClr val="EE7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0664" y="3557015"/>
            <a:ext cx="384048" cy="24688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1">
                <a:solidFill>
                  <a:srgbClr val="EE705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" y="3547872"/>
            <a:ext cx="1947672" cy="26517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300" b="1">
                <a:solidFill>
                  <a:srgbClr val="171717"/>
                </a:solidFill>
                <a:latin typeface="Aptos"/>
              </a:defRPr>
            </a:pPr>
            <a:r>
              <a:t>Digital Maturity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3922776"/>
            <a:ext cx="2313432" cy="55707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0">
                <a:solidFill>
                  <a:srgbClr val="5B5B5B"/>
                </a:solidFill>
                <a:latin typeface="Aptos"/>
              </a:defRPr>
            </a:pPr>
            <a:r>
              <a:rPr sz="1600" dirty="0"/>
              <a:t>2.2 / 5; governance the constraint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78708" y="3438144"/>
            <a:ext cx="2651760" cy="1188720"/>
          </a:xfrm>
          <a:prstGeom prst="roundRect">
            <a:avLst/>
          </a:prstGeom>
          <a:solidFill>
            <a:srgbClr val="FA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378708" y="3438144"/>
            <a:ext cx="68580" cy="1188720"/>
          </a:xfrm>
          <a:prstGeom prst="rect">
            <a:avLst/>
          </a:prstGeom>
          <a:solidFill>
            <a:srgbClr val="EE7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52444" y="3557015"/>
            <a:ext cx="384048" cy="24688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1">
                <a:solidFill>
                  <a:srgbClr val="EE705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63924" y="3547872"/>
            <a:ext cx="1947672" cy="26517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300" b="1">
                <a:solidFill>
                  <a:srgbClr val="171717"/>
                </a:solidFill>
                <a:latin typeface="Aptos"/>
              </a:defRPr>
            </a:pPr>
            <a:r>
              <a:t>Roadmap Quality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1588" y="3922776"/>
            <a:ext cx="2313432" cy="31085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0">
                <a:solidFill>
                  <a:srgbClr val="5B5B5B"/>
                </a:solidFill>
                <a:latin typeface="Aptos"/>
              </a:defRPr>
            </a:pPr>
            <a:r>
              <a:rPr sz="1600" dirty="0"/>
              <a:t>Run / Walk / Crawl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0488" y="3438144"/>
            <a:ext cx="2651760" cy="1188720"/>
          </a:xfrm>
          <a:prstGeom prst="roundRect">
            <a:avLst/>
          </a:prstGeom>
          <a:solidFill>
            <a:srgbClr val="FA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90488" y="3438144"/>
            <a:ext cx="68580" cy="1188720"/>
          </a:xfrm>
          <a:prstGeom prst="rect">
            <a:avLst/>
          </a:prstGeom>
          <a:solidFill>
            <a:srgbClr val="EE7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64224" y="3557015"/>
            <a:ext cx="384048" cy="24688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1">
                <a:solidFill>
                  <a:srgbClr val="EE705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75704" y="3547872"/>
            <a:ext cx="1947672" cy="26517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300" b="1">
                <a:solidFill>
                  <a:srgbClr val="171717"/>
                </a:solidFill>
                <a:latin typeface="Aptos"/>
              </a:defRPr>
            </a:pPr>
            <a:r>
              <a:t>KPI Validity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3922776"/>
            <a:ext cx="2313432" cy="55707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0">
                <a:solidFill>
                  <a:srgbClr val="5B5B5B"/>
                </a:solidFill>
                <a:latin typeface="Aptos"/>
              </a:defRPr>
            </a:pPr>
            <a:r>
              <a:rPr sz="1600" dirty="0"/>
              <a:t>Growth did not establish sustainability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2268" y="3438144"/>
            <a:ext cx="2651760" cy="1188720"/>
          </a:xfrm>
          <a:prstGeom prst="roundRect">
            <a:avLst/>
          </a:prstGeom>
          <a:solidFill>
            <a:srgbClr val="FA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002268" y="3438144"/>
            <a:ext cx="68580" cy="1188720"/>
          </a:xfrm>
          <a:prstGeom prst="rect">
            <a:avLst/>
          </a:prstGeom>
          <a:solidFill>
            <a:srgbClr val="EE7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76004" y="3557015"/>
            <a:ext cx="384048" cy="24688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1">
                <a:solidFill>
                  <a:srgbClr val="EE705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87484" y="3547872"/>
            <a:ext cx="1947672" cy="26517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300" b="1">
                <a:solidFill>
                  <a:srgbClr val="171717"/>
                </a:solidFill>
                <a:latin typeface="Aptos"/>
              </a:defRPr>
            </a:pPr>
            <a:r>
              <a:t>Case Pattern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5148" y="3922776"/>
            <a:ext cx="2313432" cy="55707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0">
                <a:solidFill>
                  <a:srgbClr val="5B5B5B"/>
                </a:solidFill>
                <a:latin typeface="Aptos"/>
              </a:defRPr>
            </a:pPr>
            <a:r>
              <a:rPr sz="1600" dirty="0"/>
              <a:t>Strategic overreach + economic mismatch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4946904"/>
            <a:ext cx="11055096" cy="1325880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4672" y="5148072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1">
                <a:solidFill>
                  <a:srgbClr val="EE7058"/>
                </a:solidFill>
                <a:latin typeface="Aptos"/>
              </a:defRPr>
            </a:pPr>
            <a:r>
              <a:t>THE STRUCTURAL ISSUE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" y="5504688"/>
            <a:ext cx="10488168" cy="53035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Governance lagged growth  →  expansion preceded operating foundations  →  long-term lease exposure persisted.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519672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900" b="0">
                <a:solidFill>
                  <a:srgbClr val="5B5B5B"/>
                </a:solidFill>
                <a:latin typeface="Aptos"/>
              </a:defRPr>
            </a:pPr>
            <a:r>
              <a:t>Source: Group Framework Evidence Log, 1–8  |  WeWork S-1 (2019), FY2022 10-K, Q4 FY2022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621792"/>
            <a:ext cx="10058400" cy="57607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3500" b="1">
                <a:solidFill>
                  <a:srgbClr val="EE7058"/>
                </a:solidFill>
                <a:latin typeface="Aptos"/>
              </a:defRPr>
            </a:pPr>
            <a:r>
              <a:t>THE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353312"/>
            <a:ext cx="10469880" cy="32004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664208"/>
            <a:ext cx="10058400" cy="3566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500" b="1">
                <a:solidFill>
                  <a:srgbClr val="5B5B5B"/>
                </a:solidFill>
                <a:latin typeface="Aptos"/>
              </a:defRPr>
            </a:pPr>
            <a:r>
              <a:t>90-DAY RECOMMENDATION  |  2019 STRATEGIC RESET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231136"/>
            <a:ext cx="10332720" cy="107899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3100" b="1">
                <a:solidFill>
                  <a:srgbClr val="171717"/>
                </a:solidFill>
                <a:latin typeface="Aptos"/>
              </a:defRPr>
            </a:pPr>
            <a:r>
              <a:t>Implement a board-approved lease-commitment gate.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3474720"/>
            <a:ext cx="10149840" cy="10058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2000" b="0">
                <a:solidFill>
                  <a:srgbClr val="171717"/>
                </a:solidFill>
                <a:latin typeface="Aptos"/>
              </a:defRPr>
            </a:pPr>
            <a:r>
              <a:t>Freeze new long-term leases until proposed locations pass occupancy, cash-flow, and downside-scenario tests. Require independent board approval for exceptions.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" y="4773168"/>
            <a:ext cx="10442448" cy="859536"/>
          </a:xfrm>
          <a:prstGeom prst="roundRect">
            <a:avLst/>
          </a:prstGeom>
          <a:solidFill>
            <a:srgbClr val="FA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946904"/>
            <a:ext cx="2423160" cy="26517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1">
                <a:solidFill>
                  <a:srgbClr val="EE7058"/>
                </a:solidFill>
                <a:latin typeface="Aptos"/>
              </a:defRPr>
            </a:pPr>
            <a:r>
              <a:t>MEASURE OF SUCCESS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910328"/>
            <a:ext cx="7406640" cy="5029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500" b="1">
                <a:solidFill>
                  <a:srgbClr val="171717"/>
                </a:solidFill>
                <a:latin typeface="Aptos"/>
              </a:defRPr>
            </a:pPr>
            <a:r>
              <a:t>100% of new commitments pass the gate; existing locations prioritized for renegotiation or exit.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6117336"/>
            <a:ext cx="10058400" cy="32918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700" b="1">
                <a:solidFill>
                  <a:srgbClr val="5B5B5B"/>
                </a:solidFill>
                <a:latin typeface="Aptos"/>
              </a:defRPr>
            </a:pPr>
            <a:r>
              <a:t>THANK YOU  ·  QUESTIONS?</a:t>
            </a:r>
          </a:p>
        </p:txBody>
      </p:sp>
      <p:pic>
        <p:nvPicPr>
          <p:cNvPr id="12" name="Picture 11" descr="smal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5925312"/>
            <a:ext cx="585216" cy="6065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217</Words>
  <Application>Microsoft Office PowerPoint</Application>
  <PresentationFormat>Widescreen</PresentationFormat>
  <Paragraphs>41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Clark Brown</cp:lastModifiedBy>
  <cp:revision>2</cp:revision>
  <dcterms:created xsi:type="dcterms:W3CDTF">2013-01-27T09:14:16Z</dcterms:created>
  <dcterms:modified xsi:type="dcterms:W3CDTF">2026-10-12T23:10:49Z</dcterms:modified>
  <cp:category/>
</cp:coreProperties>
</file>